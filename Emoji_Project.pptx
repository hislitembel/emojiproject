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61" r:id="rId4"/>
    <p:sldId id="263" r:id="rId5"/>
    <p:sldId id="264" r:id="rId6"/>
    <p:sldId id="268" r:id="rId7"/>
    <p:sldId id="267" r:id="rId8"/>
    <p:sldId id="266" r:id="rId9"/>
    <p:sldId id="270" r:id="rId10"/>
    <p:sldId id="269" r:id="rId1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M" initials="C" lastIdx="1" clrIdx="0">
    <p:extLst>
      <p:ext uri="{19B8F6BF-5375-455C-9EA6-DF929625EA0E}">
        <p15:presenceInfo xmlns:p15="http://schemas.microsoft.com/office/powerpoint/2012/main" userId="f1dee6d405dabaa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6744" autoAdjust="0"/>
  </p:normalViewPr>
  <p:slideViewPr>
    <p:cSldViewPr snapToGrid="0">
      <p:cViewPr varScale="1">
        <p:scale>
          <a:sx n="88" d="100"/>
          <a:sy n="88" d="100"/>
        </p:scale>
        <p:origin x="876"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2-13T10:46:47.006" idx="1">
    <p:pos x="10" y="10"/>
    <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BBDB0A-BF77-4DEC-92B0-E98EE74657E2}" type="datetimeFigureOut">
              <a:rPr lang="en-US" smtClean="0"/>
              <a:t>2/13/2021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6B8DD-3E47-4C0B-B3DE-A3F1F6E7253A}" type="slidenum">
              <a:rPr lang="en-US" smtClean="0"/>
              <a:t>‹#›</a:t>
            </a:fld>
            <a:endParaRPr lang="en-US"/>
          </a:p>
        </p:txBody>
      </p:sp>
    </p:spTree>
    <p:extLst>
      <p:ext uri="{BB962C8B-B14F-4D97-AF65-F5344CB8AC3E}">
        <p14:creationId xmlns:p14="http://schemas.microsoft.com/office/powerpoint/2010/main" val="34945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Hi, I am Cem</a:t>
            </a:r>
            <a:r>
              <a:rPr lang="tr-TR" baseline="0" dirty="0" smtClean="0"/>
              <a:t> Baykal. Today, I will present my project.</a:t>
            </a:r>
            <a:endParaRPr lang="en-US" dirty="0"/>
          </a:p>
        </p:txBody>
      </p:sp>
      <p:sp>
        <p:nvSpPr>
          <p:cNvPr id="4" name="Slide Number Placeholder 3"/>
          <p:cNvSpPr>
            <a:spLocks noGrp="1"/>
          </p:cNvSpPr>
          <p:nvPr>
            <p:ph type="sldNum" sz="quarter" idx="10"/>
          </p:nvPr>
        </p:nvSpPr>
        <p:spPr/>
        <p:txBody>
          <a:bodyPr/>
          <a:lstStyle/>
          <a:p>
            <a:fld id="{96D6B8DD-3E47-4C0B-B3DE-A3F1F6E7253A}" type="slidenum">
              <a:rPr lang="en-US" smtClean="0"/>
              <a:t>1</a:t>
            </a:fld>
            <a:endParaRPr lang="en-US"/>
          </a:p>
        </p:txBody>
      </p:sp>
    </p:spTree>
    <p:extLst>
      <p:ext uri="{BB962C8B-B14F-4D97-AF65-F5344CB8AC3E}">
        <p14:creationId xmlns:p14="http://schemas.microsoft.com/office/powerpoint/2010/main" val="2178771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No </a:t>
            </a:r>
            <a:r>
              <a:rPr lang="tr-TR" sz="1200" kern="1200" dirty="0" smtClean="0">
                <a:solidFill>
                  <a:schemeClr val="tx1"/>
                </a:solidFill>
                <a:effectLst/>
                <a:latin typeface="+mn-lt"/>
                <a:ea typeface="+mn-ea"/>
                <a:cs typeface="+mn-cs"/>
              </a:rPr>
              <a:t>matter what, AI will become a massive part of our lives, and one of the predicted final goal is to make AI a perfect servant to humans.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tr-TR"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To better understand humans, AI has to catch humans' </a:t>
            </a:r>
            <a:r>
              <a:rPr lang="tr-TR" sz="1200" kern="1200" dirty="0" smtClean="0">
                <a:solidFill>
                  <a:schemeClr val="tx1"/>
                </a:solidFill>
                <a:effectLst/>
                <a:latin typeface="+mn-lt"/>
                <a:ea typeface="+mn-ea"/>
                <a:cs typeface="+mn-cs"/>
              </a:rPr>
              <a:t>feelings.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tr-TR"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In this project, artificial intelligence is created to predict humans' current feelings by analyzing their facial expressions. </a:t>
            </a:r>
          </a:p>
          <a:p>
            <a:endParaRPr lang="en-US" dirty="0"/>
          </a:p>
        </p:txBody>
      </p:sp>
      <p:sp>
        <p:nvSpPr>
          <p:cNvPr id="4" name="Slide Number Placeholder 3"/>
          <p:cNvSpPr>
            <a:spLocks noGrp="1"/>
          </p:cNvSpPr>
          <p:nvPr>
            <p:ph type="sldNum" sz="quarter" idx="10"/>
          </p:nvPr>
        </p:nvSpPr>
        <p:spPr/>
        <p:txBody>
          <a:bodyPr/>
          <a:lstStyle/>
          <a:p>
            <a:fld id="{96D6B8DD-3E47-4C0B-B3DE-A3F1F6E7253A}" type="slidenum">
              <a:rPr lang="en-US" smtClean="0"/>
              <a:t>2</a:t>
            </a:fld>
            <a:endParaRPr lang="en-US"/>
          </a:p>
        </p:txBody>
      </p:sp>
    </p:spTree>
    <p:extLst>
      <p:ext uri="{BB962C8B-B14F-4D97-AF65-F5344CB8AC3E}">
        <p14:creationId xmlns:p14="http://schemas.microsoft.com/office/powerpoint/2010/main" val="2718435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sz="1200" b="0" i="0" u="none" strike="noStrike" kern="1200" baseline="0" dirty="0" smtClean="0">
                <a:solidFill>
                  <a:schemeClr val="tx1"/>
                </a:solidFill>
                <a:latin typeface="+mn-lt"/>
                <a:ea typeface="+mn-ea"/>
                <a:cs typeface="+mn-cs"/>
              </a:rPr>
              <a:t>Kaggle </a:t>
            </a:r>
            <a:r>
              <a:rPr lang="tr-TR" sz="1200" b="0" i="0" kern="1200" dirty="0" smtClean="0">
                <a:solidFill>
                  <a:schemeClr val="tx1"/>
                </a:solidFill>
                <a:effectLst/>
                <a:latin typeface="+mn-lt"/>
                <a:ea typeface="+mn-ea"/>
                <a:cs typeface="+mn-cs"/>
              </a:rPr>
              <a:t>facial expression recognition</a:t>
            </a:r>
            <a:r>
              <a:rPr lang="tr-TR" sz="1200" b="0" i="0" kern="1200" baseline="0" dirty="0" smtClean="0">
                <a:solidFill>
                  <a:schemeClr val="tx1"/>
                </a:solidFill>
                <a:effectLst/>
                <a:latin typeface="+mn-lt"/>
                <a:ea typeface="+mn-ea"/>
                <a:cs typeface="+mn-cs"/>
              </a:rPr>
              <a:t> 2013 dataset is used which is consisting of 48*48 pixel grayscale face images.</a:t>
            </a:r>
          </a:p>
          <a:p>
            <a:endParaRPr lang="tr-TR" sz="1200" b="0" i="0" kern="1200" baseline="0" dirty="0" smtClean="0">
              <a:solidFill>
                <a:schemeClr val="tx1"/>
              </a:solidFill>
              <a:effectLst/>
              <a:latin typeface="+mn-lt"/>
              <a:ea typeface="+mn-ea"/>
              <a:cs typeface="+mn-cs"/>
            </a:endParaRPr>
          </a:p>
          <a:p>
            <a:r>
              <a:rPr lang="tr-TR" sz="1200" b="0" i="0" kern="1200" baseline="0" dirty="0" smtClean="0">
                <a:solidFill>
                  <a:schemeClr val="tx1"/>
                </a:solidFill>
                <a:effectLst/>
                <a:latin typeface="+mn-lt"/>
                <a:ea typeface="+mn-ea"/>
                <a:cs typeface="+mn-cs"/>
              </a:rPr>
              <a:t>These are my kernels and pooling layers with relu activation.</a:t>
            </a:r>
          </a:p>
          <a:p>
            <a:endParaRPr lang="tr-TR" sz="1200" b="0" i="0" kern="1200" baseline="0" dirty="0" smtClean="0">
              <a:solidFill>
                <a:schemeClr val="tx1"/>
              </a:solidFill>
              <a:effectLst/>
              <a:latin typeface="+mn-lt"/>
              <a:ea typeface="+mn-ea"/>
              <a:cs typeface="+mn-cs"/>
            </a:endParaRPr>
          </a:p>
          <a:p>
            <a:r>
              <a:rPr lang="tr-TR" sz="1200" b="0" i="0" kern="1200" baseline="0" dirty="0" smtClean="0">
                <a:solidFill>
                  <a:schemeClr val="tx1"/>
                </a:solidFill>
                <a:effectLst/>
                <a:latin typeface="+mn-lt"/>
                <a:ea typeface="+mn-ea"/>
                <a:cs typeface="+mn-cs"/>
              </a:rPr>
              <a:t>After the flatten I have 2048 by 1 vector as my feature vector.</a:t>
            </a:r>
            <a:endParaRPr lang="en-US" dirty="0"/>
          </a:p>
        </p:txBody>
      </p:sp>
      <p:sp>
        <p:nvSpPr>
          <p:cNvPr id="4" name="Slide Number Placeholder 3"/>
          <p:cNvSpPr>
            <a:spLocks noGrp="1"/>
          </p:cNvSpPr>
          <p:nvPr>
            <p:ph type="sldNum" sz="quarter" idx="10"/>
          </p:nvPr>
        </p:nvSpPr>
        <p:spPr/>
        <p:txBody>
          <a:bodyPr/>
          <a:lstStyle/>
          <a:p>
            <a:fld id="{96D6B8DD-3E47-4C0B-B3DE-A3F1F6E7253A}" type="slidenum">
              <a:rPr lang="en-US" smtClean="0"/>
              <a:t>3</a:t>
            </a:fld>
            <a:endParaRPr lang="en-US"/>
          </a:p>
        </p:txBody>
      </p:sp>
    </p:spTree>
    <p:extLst>
      <p:ext uri="{BB962C8B-B14F-4D97-AF65-F5344CB8AC3E}">
        <p14:creationId xmlns:p14="http://schemas.microsoft.com/office/powerpoint/2010/main" val="1962668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sz="1200" kern="1200" dirty="0" smtClean="0">
                <a:solidFill>
                  <a:schemeClr val="tx1"/>
                </a:solidFill>
                <a:effectLst/>
                <a:latin typeface="+mn-lt"/>
                <a:ea typeface="+mn-ea"/>
                <a:cs typeface="+mn-cs"/>
              </a:rPr>
              <a:t>The training result is </a:t>
            </a:r>
            <a:r>
              <a:rPr lang="tr-TR" sz="1200" kern="1200" dirty="0" smtClean="0">
                <a:solidFill>
                  <a:schemeClr val="tx1"/>
                </a:solidFill>
                <a:effectLst/>
                <a:latin typeface="+mn-lt"/>
                <a:ea typeface="+mn-ea"/>
                <a:cs typeface="+mn-cs"/>
              </a:rPr>
              <a:t>60% </a:t>
            </a:r>
            <a:r>
              <a:rPr lang="tr-TR" sz="1200" kern="1200" dirty="0" smtClean="0">
                <a:solidFill>
                  <a:schemeClr val="tx1"/>
                </a:solidFill>
                <a:effectLst/>
                <a:latin typeface="+mn-lt"/>
                <a:ea typeface="+mn-ea"/>
                <a:cs typeface="+mn-cs"/>
              </a:rPr>
              <a:t>accuracy, which is not perfect; but, it is a good start. After the training is completed, feature vectors of all images are generated to obtain the feature matrix. </a:t>
            </a:r>
          </a:p>
          <a:p>
            <a:endParaRPr lang="tr-TR"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Two different approaches are analyzed with the feature matrix, encoders, and Singular Value Decomposition. With the encoders and decoders, the feature vector's size decreased to two or three to visually analyze the data. However, it failed</a:t>
            </a:r>
            <a:r>
              <a:rPr lang="tr-TR" sz="1200" kern="1200" dirty="0" smtClean="0">
                <a:solidFill>
                  <a:schemeClr val="tx1"/>
                </a:solidFill>
                <a:effectLst/>
                <a:latin typeface="+mn-lt"/>
                <a:ea typeface="+mn-ea"/>
                <a:cs typeface="+mn-cs"/>
              </a:rPr>
              <a:t>.</a:t>
            </a:r>
            <a:endParaRPr lang="tr-TR" sz="1200" kern="1200" dirty="0" smtClean="0">
              <a:solidFill>
                <a:schemeClr val="tx1"/>
              </a:solidFill>
              <a:effectLst/>
              <a:latin typeface="+mn-lt"/>
              <a:ea typeface="+mn-ea"/>
              <a:cs typeface="+mn-cs"/>
            </a:endParaRPr>
          </a:p>
          <a:p>
            <a:endParaRPr lang="tr-TR" sz="1200" kern="1200" dirty="0" smtClean="0">
              <a:solidFill>
                <a:schemeClr val="tx1"/>
              </a:solidFill>
              <a:effectLst/>
              <a:latin typeface="+mn-lt"/>
              <a:ea typeface="+mn-ea"/>
              <a:cs typeface="+mn-cs"/>
            </a:endParaRPr>
          </a:p>
          <a:p>
            <a:r>
              <a:rPr lang="tr-TR" sz="1200" kern="1200" dirty="0" smtClean="0">
                <a:solidFill>
                  <a:schemeClr val="tx1"/>
                </a:solidFill>
                <a:effectLst/>
                <a:latin typeface="+mn-lt"/>
                <a:ea typeface="+mn-ea"/>
                <a:cs typeface="+mn-cs"/>
              </a:rPr>
              <a:t>Singular Value Decomposition is applied to this feature matrix, and singular </a:t>
            </a:r>
            <a:r>
              <a:rPr lang="tr-TR" sz="1200" kern="1200" dirty="0" smtClean="0">
                <a:solidFill>
                  <a:schemeClr val="tx1"/>
                </a:solidFill>
                <a:effectLst/>
                <a:latin typeface="+mn-lt"/>
                <a:ea typeface="+mn-ea"/>
                <a:cs typeface="+mn-cs"/>
              </a:rPr>
              <a:t>values </a:t>
            </a:r>
            <a:r>
              <a:rPr lang="tr-TR" sz="1200" kern="1200" dirty="0" smtClean="0">
                <a:solidFill>
                  <a:schemeClr val="tx1"/>
                </a:solidFill>
                <a:effectLst/>
                <a:latin typeface="+mn-lt"/>
                <a:ea typeface="+mn-ea"/>
                <a:cs typeface="+mn-cs"/>
              </a:rPr>
              <a:t>are shown </a:t>
            </a:r>
            <a:r>
              <a:rPr lang="tr-TR" sz="1200" kern="1200" dirty="0" smtClean="0">
                <a:solidFill>
                  <a:schemeClr val="tx1"/>
                </a:solidFill>
                <a:effectLst/>
                <a:latin typeface="+mn-lt"/>
                <a:ea typeface="+mn-ea"/>
                <a:cs typeface="+mn-cs"/>
              </a:rPr>
              <a:t>right. Even though it seems only the first eigenvalue is the important one, only 20% of the total energy is in the first eigenvalue. </a:t>
            </a:r>
          </a:p>
          <a:p>
            <a:endParaRPr lang="tr-TR" sz="1200" kern="1200" dirty="0" smtClean="0">
              <a:solidFill>
                <a:schemeClr val="tx1"/>
              </a:solidFill>
              <a:effectLst/>
              <a:latin typeface="+mn-lt"/>
              <a:ea typeface="+mn-ea"/>
              <a:cs typeface="+mn-cs"/>
            </a:endParaRPr>
          </a:p>
          <a:p>
            <a:r>
              <a:rPr lang="tr-TR" sz="1200" kern="1200" dirty="0" smtClean="0">
                <a:solidFill>
                  <a:schemeClr val="tx1"/>
                </a:solidFill>
                <a:effectLst/>
                <a:latin typeface="+mn-lt"/>
                <a:ea typeface="+mn-ea"/>
                <a:cs typeface="+mn-cs"/>
              </a:rPr>
              <a:t>Gavish and Donoho[1] suggestion decreases the feature vector size to approximately 500 by keeping 80% of the energy. SVD indicates total energy is stored in approximately 1800 features. Due to time limitations, I do not try to decrease the feature vector's size, and I will use it as it is, with 2048 features.</a:t>
            </a:r>
          </a:p>
          <a:p>
            <a:endParaRPr lang="en-US" dirty="0"/>
          </a:p>
        </p:txBody>
      </p:sp>
      <p:sp>
        <p:nvSpPr>
          <p:cNvPr id="4" name="Slide Number Placeholder 3"/>
          <p:cNvSpPr>
            <a:spLocks noGrp="1"/>
          </p:cNvSpPr>
          <p:nvPr>
            <p:ph type="sldNum" sz="quarter" idx="10"/>
          </p:nvPr>
        </p:nvSpPr>
        <p:spPr/>
        <p:txBody>
          <a:bodyPr/>
          <a:lstStyle/>
          <a:p>
            <a:fld id="{96D6B8DD-3E47-4C0B-B3DE-A3F1F6E7253A}" type="slidenum">
              <a:rPr lang="en-US" smtClean="0"/>
              <a:t>4</a:t>
            </a:fld>
            <a:endParaRPr lang="en-US"/>
          </a:p>
        </p:txBody>
      </p:sp>
    </p:spTree>
    <p:extLst>
      <p:ext uri="{BB962C8B-B14F-4D97-AF65-F5344CB8AC3E}">
        <p14:creationId xmlns:p14="http://schemas.microsoft.com/office/powerpoint/2010/main" val="789941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Even though it seems working</a:t>
            </a:r>
            <a:r>
              <a:rPr lang="tr-TR" baseline="0" dirty="0" smtClean="0"/>
              <a:t> it is not. It works with 3-4 FPS and the reason may be my computer.</a:t>
            </a:r>
          </a:p>
          <a:p>
            <a:endParaRPr lang="tr-TR" baseline="0" dirty="0" smtClean="0"/>
          </a:p>
          <a:p>
            <a:r>
              <a:rPr lang="tr-TR" baseline="0" dirty="0" smtClean="0"/>
              <a:t>Opencv library is used.</a:t>
            </a:r>
          </a:p>
          <a:p>
            <a:endParaRPr lang="tr-TR" baseline="0" dirty="0" smtClean="0"/>
          </a:p>
          <a:p>
            <a:r>
              <a:rPr lang="tr-TR" baseline="0" dirty="0" smtClean="0"/>
              <a:t>Accuracy is </a:t>
            </a:r>
            <a:r>
              <a:rPr lang="tr-TR" baseline="0" dirty="0" smtClean="0"/>
              <a:t>60% </a:t>
            </a:r>
            <a:r>
              <a:rPr lang="tr-TR" baseline="0" dirty="0" smtClean="0"/>
              <a:t>as i said.</a:t>
            </a:r>
            <a:endParaRPr lang="en-US" dirty="0"/>
          </a:p>
        </p:txBody>
      </p:sp>
      <p:sp>
        <p:nvSpPr>
          <p:cNvPr id="4" name="Slide Number Placeholder 3"/>
          <p:cNvSpPr>
            <a:spLocks noGrp="1"/>
          </p:cNvSpPr>
          <p:nvPr>
            <p:ph type="sldNum" sz="quarter" idx="10"/>
          </p:nvPr>
        </p:nvSpPr>
        <p:spPr/>
        <p:txBody>
          <a:bodyPr/>
          <a:lstStyle/>
          <a:p>
            <a:fld id="{96D6B8DD-3E47-4C0B-B3DE-A3F1F6E7253A}" type="slidenum">
              <a:rPr lang="en-US" smtClean="0"/>
              <a:t>5</a:t>
            </a:fld>
            <a:endParaRPr lang="en-US"/>
          </a:p>
        </p:txBody>
      </p:sp>
    </p:spTree>
    <p:extLst>
      <p:ext uri="{BB962C8B-B14F-4D97-AF65-F5344CB8AC3E}">
        <p14:creationId xmlns:p14="http://schemas.microsoft.com/office/powerpoint/2010/main" val="876700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smtClean="0"/>
              <a:t>detectMultiScale() command to catch more than one person.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tr-TR" dirty="0" smtClean="0"/>
          </a:p>
        </p:txBody>
      </p:sp>
      <p:sp>
        <p:nvSpPr>
          <p:cNvPr id="4" name="Slide Number Placeholder 3"/>
          <p:cNvSpPr>
            <a:spLocks noGrp="1"/>
          </p:cNvSpPr>
          <p:nvPr>
            <p:ph type="sldNum" sz="quarter" idx="10"/>
          </p:nvPr>
        </p:nvSpPr>
        <p:spPr/>
        <p:txBody>
          <a:bodyPr/>
          <a:lstStyle/>
          <a:p>
            <a:fld id="{96D6B8DD-3E47-4C0B-B3DE-A3F1F6E7253A}" type="slidenum">
              <a:rPr lang="en-US" smtClean="0"/>
              <a:t>6</a:t>
            </a:fld>
            <a:endParaRPr lang="en-US"/>
          </a:p>
        </p:txBody>
      </p:sp>
    </p:spTree>
    <p:extLst>
      <p:ext uri="{BB962C8B-B14F-4D97-AF65-F5344CB8AC3E}">
        <p14:creationId xmlns:p14="http://schemas.microsoft.com/office/powerpoint/2010/main" val="1327185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smtClean="0"/>
              <a:t>I trained 7 different emotions. There are more.</a:t>
            </a:r>
          </a:p>
          <a:p>
            <a:endParaRPr lang="tr-TR" dirty="0" smtClean="0"/>
          </a:p>
          <a:p>
            <a:r>
              <a:rPr lang="tr-TR" dirty="0" smtClean="0"/>
              <a:t>I want to</a:t>
            </a:r>
            <a:r>
              <a:rPr lang="tr-TR" baseline="0" dirty="0" smtClean="0"/>
              <a:t> remind you that softmax is used at the last layer.</a:t>
            </a:r>
            <a:endParaRPr lang="en-US" dirty="0"/>
          </a:p>
        </p:txBody>
      </p:sp>
      <p:sp>
        <p:nvSpPr>
          <p:cNvPr id="4" name="Slide Number Placeholder 3"/>
          <p:cNvSpPr>
            <a:spLocks noGrp="1"/>
          </p:cNvSpPr>
          <p:nvPr>
            <p:ph type="sldNum" sz="quarter" idx="10"/>
          </p:nvPr>
        </p:nvSpPr>
        <p:spPr/>
        <p:txBody>
          <a:bodyPr/>
          <a:lstStyle/>
          <a:p>
            <a:fld id="{96D6B8DD-3E47-4C0B-B3DE-A3F1F6E7253A}" type="slidenum">
              <a:rPr lang="en-US" smtClean="0"/>
              <a:t>7</a:t>
            </a:fld>
            <a:endParaRPr lang="en-US"/>
          </a:p>
        </p:txBody>
      </p:sp>
    </p:spTree>
    <p:extLst>
      <p:ext uri="{BB962C8B-B14F-4D97-AF65-F5344CB8AC3E}">
        <p14:creationId xmlns:p14="http://schemas.microsoft.com/office/powerpoint/2010/main" val="2031188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D6B8DD-3E47-4C0B-B3DE-A3F1F6E7253A}" type="slidenum">
              <a:rPr lang="en-US" smtClean="0"/>
              <a:t>8</a:t>
            </a:fld>
            <a:endParaRPr lang="en-US"/>
          </a:p>
        </p:txBody>
      </p:sp>
    </p:spTree>
    <p:extLst>
      <p:ext uri="{BB962C8B-B14F-4D97-AF65-F5344CB8AC3E}">
        <p14:creationId xmlns:p14="http://schemas.microsoft.com/office/powerpoint/2010/main" val="789415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D6B8DD-3E47-4C0B-B3DE-A3F1F6E7253A}" type="slidenum">
              <a:rPr lang="en-US" smtClean="0"/>
              <a:t>9</a:t>
            </a:fld>
            <a:endParaRPr lang="en-US"/>
          </a:p>
        </p:txBody>
      </p:sp>
    </p:spTree>
    <p:extLst>
      <p:ext uri="{BB962C8B-B14F-4D97-AF65-F5344CB8AC3E}">
        <p14:creationId xmlns:p14="http://schemas.microsoft.com/office/powerpoint/2010/main" val="1491167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My dataset was not good enough.</a:t>
            </a:r>
            <a:r>
              <a:rPr lang="tr-TR" baseline="0" dirty="0" smtClean="0"/>
              <a:t> If i wear my glasses, results are changing drastically.</a:t>
            </a:r>
          </a:p>
          <a:p>
            <a:endParaRPr lang="tr-TR" baseline="0" dirty="0" smtClean="0"/>
          </a:p>
          <a:p>
            <a:r>
              <a:rPr lang="tr-TR" baseline="0" dirty="0" smtClean="0"/>
              <a:t>It is not learning because I could not implemented the flowchart into python. Could not find enough time.</a:t>
            </a:r>
          </a:p>
          <a:p>
            <a:endParaRPr lang="tr-TR" baseline="0" dirty="0" smtClean="0"/>
          </a:p>
          <a:p>
            <a:endParaRPr lang="tr-TR" baseline="0" dirty="0" smtClean="0"/>
          </a:p>
          <a:p>
            <a:r>
              <a:rPr lang="tr-TR" baseline="0" dirty="0" smtClean="0"/>
              <a:t>.</a:t>
            </a:r>
            <a:endParaRPr lang="en-US" dirty="0"/>
          </a:p>
        </p:txBody>
      </p:sp>
      <p:sp>
        <p:nvSpPr>
          <p:cNvPr id="4" name="Slide Number Placeholder 3"/>
          <p:cNvSpPr>
            <a:spLocks noGrp="1"/>
          </p:cNvSpPr>
          <p:nvPr>
            <p:ph type="sldNum" sz="quarter" idx="10"/>
          </p:nvPr>
        </p:nvSpPr>
        <p:spPr/>
        <p:txBody>
          <a:bodyPr/>
          <a:lstStyle/>
          <a:p>
            <a:fld id="{96D6B8DD-3E47-4C0B-B3DE-A3F1F6E7253A}" type="slidenum">
              <a:rPr lang="en-US" smtClean="0"/>
              <a:t>10</a:t>
            </a:fld>
            <a:endParaRPr lang="en-US"/>
          </a:p>
        </p:txBody>
      </p:sp>
    </p:spTree>
    <p:extLst>
      <p:ext uri="{BB962C8B-B14F-4D97-AF65-F5344CB8AC3E}">
        <p14:creationId xmlns:p14="http://schemas.microsoft.com/office/powerpoint/2010/main" val="2463463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7EC5FC-1E5E-46C1-AA92-343627752E49}" type="datetimeFigureOut">
              <a:rPr lang="en-US" smtClean="0"/>
              <a:t>2/13/2021</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FCE076E-80B4-4641-A6A6-2C2251D57701}" type="slidenum">
              <a:rPr lang="en-US" smtClean="0"/>
              <a:t>‹#›</a:t>
            </a:fld>
            <a:endParaRPr lang="en-US"/>
          </a:p>
        </p:txBody>
      </p:sp>
    </p:spTree>
    <p:extLst>
      <p:ext uri="{BB962C8B-B14F-4D97-AF65-F5344CB8AC3E}">
        <p14:creationId xmlns:p14="http://schemas.microsoft.com/office/powerpoint/2010/main" val="71304838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tr-TR" smtClean="0"/>
              <a:t>11/2/2020</a:t>
            </a:r>
            <a:endParaRPr lang="tr-TR" dirty="0" smtClean="0"/>
          </a:p>
        </p:txBody>
      </p:sp>
      <p:sp>
        <p:nvSpPr>
          <p:cNvPr id="4" name="Slide Number Placeholder 3"/>
          <p:cNvSpPr>
            <a:spLocks noGrp="1"/>
          </p:cNvSpPr>
          <p:nvPr>
            <p:ph type="sldNum" sz="quarter" idx="11"/>
          </p:nvPr>
        </p:nvSpPr>
        <p:spPr/>
        <p:txBody>
          <a:bodyPr/>
          <a:lstStyle/>
          <a:p>
            <a:fld id="{9FCE076E-80B4-4641-A6A6-2C2251D57701}" type="slidenum">
              <a:rPr lang="en-US" smtClean="0"/>
              <a:pPr/>
              <a:t>‹#›</a:t>
            </a:fld>
            <a:r>
              <a:rPr lang="tr-TR" smtClean="0"/>
              <a:t>/12</a:t>
            </a:r>
            <a:endParaRPr lang="en-US" dirty="0"/>
          </a:p>
        </p:txBody>
      </p:sp>
    </p:spTree>
    <p:extLst>
      <p:ext uri="{BB962C8B-B14F-4D97-AF65-F5344CB8AC3E}">
        <p14:creationId xmlns:p14="http://schemas.microsoft.com/office/powerpoint/2010/main" val="343822104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7EC5FC-1E5E-46C1-AA92-343627752E49}" type="datetimeFigureOut">
              <a:rPr lang="en-US" smtClean="0"/>
              <a:t>2/13/2021</a:t>
            </a:fld>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9FCE076E-80B4-4641-A6A6-2C2251D57701}" type="slidenum">
              <a:rPr lang="en-US" smtClean="0"/>
              <a:pPr/>
              <a:t>‹#›</a:t>
            </a:fld>
            <a:r>
              <a:rPr lang="tr-TR" dirty="0" smtClean="0"/>
              <a:t>/12</a:t>
            </a:r>
            <a:endParaRPr lang="en-US" dirty="0"/>
          </a:p>
        </p:txBody>
      </p:sp>
    </p:spTree>
    <p:extLst>
      <p:ext uri="{BB962C8B-B14F-4D97-AF65-F5344CB8AC3E}">
        <p14:creationId xmlns:p14="http://schemas.microsoft.com/office/powerpoint/2010/main" val="393804968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7EC5FC-1E5E-46C1-AA92-343627752E49}" type="datetimeFigureOut">
              <a:rPr lang="en-US" smtClean="0"/>
              <a:t>2/13/2021</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FCE076E-80B4-4641-A6A6-2C2251D57701}" type="slidenum">
              <a:rPr lang="en-US" smtClean="0"/>
              <a:t>‹#›</a:t>
            </a:fld>
            <a:endParaRPr lang="en-US"/>
          </a:p>
        </p:txBody>
      </p:sp>
    </p:spTree>
    <p:extLst>
      <p:ext uri="{BB962C8B-B14F-4D97-AF65-F5344CB8AC3E}">
        <p14:creationId xmlns:p14="http://schemas.microsoft.com/office/powerpoint/2010/main" val="297078635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27EC5FC-1E5E-46C1-AA92-343627752E49}" type="datetimeFigureOut">
              <a:rPr lang="en-US" smtClean="0"/>
              <a:t>2/13/2021</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FCE076E-80B4-4641-A6A6-2C2251D57701}" type="slidenum">
              <a:rPr lang="en-US" smtClean="0"/>
              <a:t>‹#›</a:t>
            </a:fld>
            <a:endParaRPr lang="en-US" dirty="0"/>
          </a:p>
        </p:txBody>
      </p:sp>
    </p:spTree>
    <p:extLst>
      <p:ext uri="{BB962C8B-B14F-4D97-AF65-F5344CB8AC3E}">
        <p14:creationId xmlns:p14="http://schemas.microsoft.com/office/powerpoint/2010/main" val="121787842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27EC5FC-1E5E-46C1-AA92-343627752E49}" type="datetimeFigureOut">
              <a:rPr lang="en-US" smtClean="0"/>
              <a:t>2/13/2021</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9FCE076E-80B4-4641-A6A6-2C2251D57701}" type="slidenum">
              <a:rPr lang="en-US" smtClean="0"/>
              <a:t>‹#›</a:t>
            </a:fld>
            <a:endParaRPr lang="en-US"/>
          </a:p>
        </p:txBody>
      </p:sp>
    </p:spTree>
    <p:extLst>
      <p:ext uri="{BB962C8B-B14F-4D97-AF65-F5344CB8AC3E}">
        <p14:creationId xmlns:p14="http://schemas.microsoft.com/office/powerpoint/2010/main" val="240505257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27EC5FC-1E5E-46C1-AA92-343627752E49}" type="datetimeFigureOut">
              <a:rPr lang="en-US" smtClean="0"/>
              <a:t>2/13/2021</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9FCE076E-80B4-4641-A6A6-2C2251D57701}" type="slidenum">
              <a:rPr lang="en-US" smtClean="0"/>
              <a:t>‹#›</a:t>
            </a:fld>
            <a:endParaRPr lang="en-US"/>
          </a:p>
        </p:txBody>
      </p:sp>
    </p:spTree>
    <p:extLst>
      <p:ext uri="{BB962C8B-B14F-4D97-AF65-F5344CB8AC3E}">
        <p14:creationId xmlns:p14="http://schemas.microsoft.com/office/powerpoint/2010/main" val="33755917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C5FC-1E5E-46C1-AA92-343627752E49}" type="datetimeFigureOut">
              <a:rPr lang="en-US" smtClean="0"/>
              <a:t>2/13/2021</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9FCE076E-80B4-4641-A6A6-2C2251D57701}" type="slidenum">
              <a:rPr lang="en-US" smtClean="0"/>
              <a:t>‹#›</a:t>
            </a:fld>
            <a:endParaRPr lang="en-US"/>
          </a:p>
        </p:txBody>
      </p:sp>
    </p:spTree>
    <p:extLst>
      <p:ext uri="{BB962C8B-B14F-4D97-AF65-F5344CB8AC3E}">
        <p14:creationId xmlns:p14="http://schemas.microsoft.com/office/powerpoint/2010/main" val="62075138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27EC5FC-1E5E-46C1-AA92-343627752E49}" type="datetimeFigureOut">
              <a:rPr lang="en-US" smtClean="0"/>
              <a:t>2/13/2021</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FCE076E-80B4-4641-A6A6-2C2251D57701}" type="slidenum">
              <a:rPr lang="en-US" smtClean="0"/>
              <a:t>‹#›</a:t>
            </a:fld>
            <a:endParaRPr lang="en-US"/>
          </a:p>
        </p:txBody>
      </p:sp>
    </p:spTree>
    <p:extLst>
      <p:ext uri="{BB962C8B-B14F-4D97-AF65-F5344CB8AC3E}">
        <p14:creationId xmlns:p14="http://schemas.microsoft.com/office/powerpoint/2010/main" val="252794166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27EC5FC-1E5E-46C1-AA92-343627752E49}" type="datetimeFigureOut">
              <a:rPr lang="en-US" smtClean="0"/>
              <a:t>2/13/2021</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FCE076E-80B4-4641-A6A6-2C2251D57701}" type="slidenum">
              <a:rPr lang="en-US" smtClean="0"/>
              <a:t>‹#›</a:t>
            </a:fld>
            <a:endParaRPr lang="en-US"/>
          </a:p>
        </p:txBody>
      </p:sp>
    </p:spTree>
    <p:extLst>
      <p:ext uri="{BB962C8B-B14F-4D97-AF65-F5344CB8AC3E}">
        <p14:creationId xmlns:p14="http://schemas.microsoft.com/office/powerpoint/2010/main" val="321950944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7EC5FC-1E5E-46C1-AA92-343627752E49}" type="datetimeFigureOut">
              <a:rPr lang="en-US" smtClean="0"/>
              <a:t>2/13/2021</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FCE076E-80B4-4641-A6A6-2C2251D57701}" type="slidenum">
              <a:rPr lang="en-US" smtClean="0"/>
              <a:t>‹#›</a:t>
            </a:fld>
            <a:endParaRPr lang="en-US"/>
          </a:p>
        </p:txBody>
      </p:sp>
    </p:spTree>
    <p:extLst>
      <p:ext uri="{BB962C8B-B14F-4D97-AF65-F5344CB8AC3E}">
        <p14:creationId xmlns:p14="http://schemas.microsoft.com/office/powerpoint/2010/main" val="282029773"/>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7EC5FC-1E5E-46C1-AA92-343627752E49}" type="datetimeFigureOut">
              <a:rPr lang="en-US" smtClean="0"/>
              <a:t>2/13/2021</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FCE076E-80B4-4641-A6A6-2C2251D57701}" type="slidenum">
              <a:rPr lang="en-US" smtClean="0"/>
              <a:t>‹#›</a:t>
            </a:fld>
            <a:endParaRPr lang="en-US"/>
          </a:p>
        </p:txBody>
      </p:sp>
    </p:spTree>
    <p:extLst>
      <p:ext uri="{BB962C8B-B14F-4D97-AF65-F5344CB8AC3E}">
        <p14:creationId xmlns:p14="http://schemas.microsoft.com/office/powerpoint/2010/main" val="315159053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tr-TR" dirty="0" smtClean="0"/>
              <a:t>11/2/2020</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CE076E-80B4-4641-A6A6-2C2251D57701}" type="slidenum">
              <a:rPr lang="en-US" smtClean="0"/>
              <a:pPr/>
              <a:t>‹#›</a:t>
            </a:fld>
            <a:r>
              <a:rPr lang="tr-TR" dirty="0" smtClean="0"/>
              <a:t>/12</a:t>
            </a:r>
            <a:endParaRPr lang="en-US" dirty="0"/>
          </a:p>
        </p:txBody>
      </p:sp>
    </p:spTree>
    <p:extLst>
      <p:ext uri="{BB962C8B-B14F-4D97-AF65-F5344CB8AC3E}">
        <p14:creationId xmlns:p14="http://schemas.microsoft.com/office/powerpoint/2010/main" val="213886070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s://www.kaggle.com/msambare/fer2013"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comments" Target="../comments/commen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jp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20.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12192000" cy="6967603"/>
          </a:xfrm>
          <a:prstGeom prst="rect">
            <a:avLst/>
          </a:prstGeom>
        </p:spPr>
      </p:pic>
      <p:sp>
        <p:nvSpPr>
          <p:cNvPr id="2" name="Title 1"/>
          <p:cNvSpPr>
            <a:spLocks noGrp="1"/>
          </p:cNvSpPr>
          <p:nvPr>
            <p:ph type="ctrTitle"/>
          </p:nvPr>
        </p:nvSpPr>
        <p:spPr>
          <a:xfrm>
            <a:off x="554180" y="1816658"/>
            <a:ext cx="6857734" cy="1104092"/>
          </a:xfrm>
        </p:spPr>
        <p:txBody>
          <a:bodyPr>
            <a:normAutofit/>
          </a:bodyPr>
          <a:lstStyle/>
          <a:p>
            <a:r>
              <a:rPr lang="tr-TR" dirty="0" smtClean="0">
                <a:solidFill>
                  <a:schemeClr val="accent1">
                    <a:lumMod val="60000"/>
                    <a:lumOff val="40000"/>
                  </a:schemeClr>
                </a:solidFill>
                <a:latin typeface="Ebrima" panose="02000000000000000000" pitchFamily="2" charset="0"/>
                <a:ea typeface="Ebrima" panose="02000000000000000000" pitchFamily="2" charset="0"/>
                <a:cs typeface="Ebrima" panose="02000000000000000000" pitchFamily="2" charset="0"/>
              </a:rPr>
              <a:t>CAN YOU FEEL IT?</a:t>
            </a:r>
            <a:endParaRPr lang="en-US" dirty="0">
              <a:solidFill>
                <a:schemeClr val="accent1">
                  <a:lumMod val="60000"/>
                  <a:lumOff val="40000"/>
                </a:schemeClr>
              </a:solidFill>
              <a:latin typeface="Ebrima" panose="02000000000000000000" pitchFamily="2" charset="0"/>
              <a:ea typeface="Ebrima" panose="02000000000000000000" pitchFamily="2" charset="0"/>
              <a:cs typeface="Ebrima" panose="02000000000000000000" pitchFamily="2" charset="0"/>
            </a:endParaRPr>
          </a:p>
        </p:txBody>
      </p:sp>
      <p:sp>
        <p:nvSpPr>
          <p:cNvPr id="3" name="Subtitle 2"/>
          <p:cNvSpPr>
            <a:spLocks noGrp="1"/>
          </p:cNvSpPr>
          <p:nvPr>
            <p:ph type="subTitle" idx="1"/>
          </p:nvPr>
        </p:nvSpPr>
        <p:spPr>
          <a:xfrm>
            <a:off x="2671484" y="3817935"/>
            <a:ext cx="2623127" cy="386773"/>
          </a:xfrm>
        </p:spPr>
        <p:txBody>
          <a:bodyPr>
            <a:normAutofit fontScale="92500" lnSpcReduction="10000"/>
          </a:bodyPr>
          <a:lstStyle/>
          <a:p>
            <a:r>
              <a:rPr lang="tr-TR" dirty="0">
                <a:solidFill>
                  <a:schemeClr val="accent1">
                    <a:lumMod val="60000"/>
                    <a:lumOff val="40000"/>
                  </a:schemeClr>
                </a:solidFill>
              </a:rPr>
              <a:t>b</a:t>
            </a:r>
            <a:r>
              <a:rPr lang="tr-TR" dirty="0" smtClean="0">
                <a:solidFill>
                  <a:schemeClr val="accent1">
                    <a:lumMod val="60000"/>
                    <a:lumOff val="40000"/>
                  </a:schemeClr>
                </a:solidFill>
              </a:rPr>
              <a:t>y Cem Baykal</a:t>
            </a:r>
            <a:endParaRPr lang="en-US" dirty="0">
              <a:solidFill>
                <a:schemeClr val="accent1">
                  <a:lumMod val="60000"/>
                  <a:lumOff val="40000"/>
                </a:schemeClr>
              </a:solidFill>
            </a:endParaRPr>
          </a:p>
        </p:txBody>
      </p:sp>
    </p:spTree>
    <p:extLst>
      <p:ext uri="{BB962C8B-B14F-4D97-AF65-F5344CB8AC3E}">
        <p14:creationId xmlns:p14="http://schemas.microsoft.com/office/powerpoint/2010/main" val="28334499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latin typeface="Ebrima" panose="02000000000000000000" pitchFamily="2" charset="0"/>
                <a:ea typeface="Ebrima" panose="02000000000000000000" pitchFamily="2" charset="0"/>
                <a:cs typeface="Ebrima" panose="02000000000000000000" pitchFamily="2" charset="0"/>
              </a:rPr>
              <a:t>CAN YOU FEEL IT?</a:t>
            </a:r>
            <a:endParaRPr lang="en-US" dirty="0">
              <a:latin typeface="Ebrima" panose="02000000000000000000" pitchFamily="2" charset="0"/>
              <a:ea typeface="Ebrima" panose="02000000000000000000" pitchFamily="2" charset="0"/>
              <a:cs typeface="Ebrima" panose="02000000000000000000" pitchFamily="2" charset="0"/>
            </a:endParaRPr>
          </a:p>
        </p:txBody>
      </p:sp>
      <p:sp>
        <p:nvSpPr>
          <p:cNvPr id="3" name="Content Placeholder 2"/>
          <p:cNvSpPr>
            <a:spLocks noGrp="1"/>
          </p:cNvSpPr>
          <p:nvPr>
            <p:ph idx="1"/>
          </p:nvPr>
        </p:nvSpPr>
        <p:spPr>
          <a:xfrm>
            <a:off x="838200" y="1825625"/>
            <a:ext cx="10515600" cy="4368346"/>
          </a:xfrm>
        </p:spPr>
        <p:txBody>
          <a:bodyPr/>
          <a:lstStyle/>
          <a:p>
            <a:r>
              <a:rPr lang="tr-TR" dirty="0" smtClean="0"/>
              <a:t>What is the purpose of AI?</a:t>
            </a:r>
          </a:p>
          <a:p>
            <a:endParaRPr lang="tr-TR" dirty="0"/>
          </a:p>
          <a:p>
            <a:r>
              <a:rPr lang="tr-TR" dirty="0" smtClean="0"/>
              <a:t>How to be good at it?</a:t>
            </a:r>
          </a:p>
          <a:p>
            <a:pPr marL="0" indent="0">
              <a:buNone/>
            </a:pPr>
            <a:endParaRPr lang="tr-TR" dirty="0"/>
          </a:p>
          <a:p>
            <a:r>
              <a:rPr lang="tr-TR" dirty="0" smtClean="0"/>
              <a:t>Can AI catch humans feelings?</a:t>
            </a:r>
          </a:p>
          <a:p>
            <a:pPr marL="0" indent="0">
              <a:buNone/>
            </a:pPr>
            <a:endParaRPr lang="en-US" dirty="0"/>
          </a:p>
        </p:txBody>
      </p:sp>
      <p:pic>
        <p:nvPicPr>
          <p:cNvPr id="4" name="Picture 3"/>
          <p:cNvPicPr>
            <a:picLocks noChangeAspect="1"/>
          </p:cNvPicPr>
          <p:nvPr/>
        </p:nvPicPr>
        <p:blipFill>
          <a:blip r:embed="rId4"/>
          <a:stretch>
            <a:fillRect/>
          </a:stretch>
        </p:blipFill>
        <p:spPr>
          <a:xfrm>
            <a:off x="6096000" y="1376718"/>
            <a:ext cx="5449060" cy="4648849"/>
          </a:xfrm>
          <a:prstGeom prst="rect">
            <a:avLst/>
          </a:prstGeom>
        </p:spPr>
      </p:pic>
    </p:spTree>
    <p:extLst>
      <p:ext uri="{BB962C8B-B14F-4D97-AF65-F5344CB8AC3E}">
        <p14:creationId xmlns:p14="http://schemas.microsoft.com/office/powerpoint/2010/main" val="285807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latin typeface="Ebrima" panose="02000000000000000000" pitchFamily="2" charset="0"/>
                <a:ea typeface="Ebrima" panose="02000000000000000000" pitchFamily="2" charset="0"/>
                <a:cs typeface="Ebrima" panose="02000000000000000000" pitchFamily="2" charset="0"/>
              </a:rPr>
              <a:t>How to detect emotion?</a:t>
            </a:r>
            <a:endParaRPr lang="en-US" dirty="0">
              <a:latin typeface="Ebrima" panose="02000000000000000000" pitchFamily="2" charset="0"/>
              <a:ea typeface="Ebrima" panose="02000000000000000000" pitchFamily="2" charset="0"/>
              <a:cs typeface="Ebrima" panose="02000000000000000000" pitchFamily="2" charset="0"/>
            </a:endParaRPr>
          </a:p>
        </p:txBody>
      </p:sp>
      <p:sp>
        <p:nvSpPr>
          <p:cNvPr id="3" name="Content Placeholder 2"/>
          <p:cNvSpPr>
            <a:spLocks noGrp="1"/>
          </p:cNvSpPr>
          <p:nvPr>
            <p:ph idx="1"/>
          </p:nvPr>
        </p:nvSpPr>
        <p:spPr>
          <a:xfrm>
            <a:off x="7467600" y="1825625"/>
            <a:ext cx="3886200" cy="4901746"/>
          </a:xfrm>
        </p:spPr>
        <p:txBody>
          <a:bodyPr>
            <a:normAutofit lnSpcReduction="10000"/>
          </a:bodyPr>
          <a:lstStyle/>
          <a:p>
            <a:pPr marL="0" indent="0">
              <a:buNone/>
            </a:pPr>
            <a:r>
              <a:rPr lang="tr-TR" dirty="0" smtClean="0"/>
              <a:t>Kaggle FER2013 dataset</a:t>
            </a:r>
          </a:p>
          <a:p>
            <a:pPr marL="0" indent="0">
              <a:buNone/>
            </a:pPr>
            <a:r>
              <a:rPr lang="tr-TR" dirty="0" smtClean="0"/>
              <a:t>28709 faces with the following labels:</a:t>
            </a:r>
            <a:endParaRPr lang="tr-TR" dirty="0"/>
          </a:p>
          <a:p>
            <a:pPr marL="0" indent="0" fontAlgn="base">
              <a:buNone/>
            </a:pPr>
            <a:r>
              <a:rPr lang="en-US" dirty="0"/>
              <a:t>0:angry</a:t>
            </a:r>
          </a:p>
          <a:p>
            <a:pPr marL="0" indent="0" fontAlgn="base">
              <a:buNone/>
            </a:pPr>
            <a:r>
              <a:rPr lang="en-US" dirty="0"/>
              <a:t>1:disgust</a:t>
            </a:r>
          </a:p>
          <a:p>
            <a:pPr marL="0" indent="0" fontAlgn="base">
              <a:buNone/>
            </a:pPr>
            <a:r>
              <a:rPr lang="en-US" dirty="0" smtClean="0"/>
              <a:t>2:fea</a:t>
            </a:r>
            <a:r>
              <a:rPr lang="tr-TR" dirty="0" smtClean="0"/>
              <a:t>r</a:t>
            </a:r>
            <a:endParaRPr lang="en-US" dirty="0"/>
          </a:p>
          <a:p>
            <a:pPr marL="0" indent="0" fontAlgn="base">
              <a:buNone/>
            </a:pPr>
            <a:r>
              <a:rPr lang="en-US" dirty="0"/>
              <a:t>3:happy</a:t>
            </a:r>
          </a:p>
          <a:p>
            <a:pPr marL="0" indent="0" fontAlgn="base">
              <a:buNone/>
            </a:pPr>
            <a:r>
              <a:rPr lang="en-US" dirty="0" smtClean="0"/>
              <a:t>4:sad</a:t>
            </a:r>
          </a:p>
          <a:p>
            <a:pPr marL="0" indent="0" fontAlgn="base">
              <a:buNone/>
            </a:pPr>
            <a:r>
              <a:rPr lang="en-US" dirty="0" smtClean="0"/>
              <a:t>5:surprise</a:t>
            </a:r>
            <a:endParaRPr lang="en-US" dirty="0"/>
          </a:p>
          <a:p>
            <a:pPr marL="0" indent="0" fontAlgn="base">
              <a:buNone/>
            </a:pPr>
            <a:r>
              <a:rPr lang="en-US" dirty="0" smtClean="0"/>
              <a:t>6:natural</a:t>
            </a:r>
            <a:endParaRPr lang="tr-TR" dirty="0"/>
          </a:p>
          <a:p>
            <a:endParaRPr lang="tr-TR" dirty="0" smtClean="0"/>
          </a:p>
          <a:p>
            <a:endParaRPr lang="tr-TR" dirty="0" smtClean="0"/>
          </a:p>
          <a:p>
            <a:endParaRPr lang="tr-TR" dirty="0"/>
          </a:p>
        </p:txBody>
      </p:sp>
      <p:pic>
        <p:nvPicPr>
          <p:cNvPr id="4" name="Picture 3"/>
          <p:cNvPicPr>
            <a:picLocks noChangeAspect="1"/>
          </p:cNvPicPr>
          <p:nvPr/>
        </p:nvPicPr>
        <p:blipFill>
          <a:blip r:embed="rId4"/>
          <a:stretch>
            <a:fillRect/>
          </a:stretch>
        </p:blipFill>
        <p:spPr>
          <a:xfrm>
            <a:off x="838200" y="1978025"/>
            <a:ext cx="6477904" cy="3848637"/>
          </a:xfrm>
          <a:prstGeom prst="rect">
            <a:avLst/>
          </a:prstGeom>
        </p:spPr>
      </p:pic>
      <p:sp>
        <p:nvSpPr>
          <p:cNvPr id="7" name="Rectangle 6"/>
          <p:cNvSpPr/>
          <p:nvPr/>
        </p:nvSpPr>
        <p:spPr>
          <a:xfrm>
            <a:off x="1810235" y="6037799"/>
            <a:ext cx="4533833" cy="369332"/>
          </a:xfrm>
          <a:prstGeom prst="rect">
            <a:avLst/>
          </a:prstGeom>
        </p:spPr>
        <p:txBody>
          <a:bodyPr wrap="square">
            <a:spAutoFit/>
          </a:bodyPr>
          <a:lstStyle/>
          <a:p>
            <a:r>
              <a:rPr lang="en-US" dirty="0">
                <a:hlinkClick r:id="rId5"/>
              </a:rPr>
              <a:t>https://</a:t>
            </a:r>
            <a:r>
              <a:rPr lang="en-US" dirty="0" smtClean="0">
                <a:hlinkClick r:id="rId5"/>
              </a:rPr>
              <a:t>www.kaggle.com/msambare/fer2013</a:t>
            </a:r>
            <a:r>
              <a:rPr lang="tr-TR" dirty="0" smtClean="0"/>
              <a:t> </a:t>
            </a:r>
          </a:p>
        </p:txBody>
      </p:sp>
    </p:spTree>
    <p:extLst>
      <p:ext uri="{BB962C8B-B14F-4D97-AF65-F5344CB8AC3E}">
        <p14:creationId xmlns:p14="http://schemas.microsoft.com/office/powerpoint/2010/main" val="1634005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latin typeface="Ebrima" panose="02000000000000000000" pitchFamily="2" charset="0"/>
                <a:ea typeface="Ebrima" panose="02000000000000000000" pitchFamily="2" charset="0"/>
                <a:cs typeface="Ebrima" panose="02000000000000000000" pitchFamily="2" charset="0"/>
              </a:rPr>
              <a:t>Feature vector - 2048x1 </a:t>
            </a:r>
            <a:endParaRPr lang="en-US" dirty="0">
              <a:latin typeface="Ebrima" panose="02000000000000000000" pitchFamily="2" charset="0"/>
              <a:ea typeface="Ebrima" panose="02000000000000000000" pitchFamily="2" charset="0"/>
              <a:cs typeface="Ebrima" panose="02000000000000000000" pitchFamily="2" charset="0"/>
            </a:endParaRPr>
          </a:p>
        </p:txBody>
      </p:sp>
      <p:sp>
        <p:nvSpPr>
          <p:cNvPr id="3" name="Content Placeholder 2"/>
          <p:cNvSpPr>
            <a:spLocks noGrp="1"/>
          </p:cNvSpPr>
          <p:nvPr>
            <p:ph idx="1"/>
          </p:nvPr>
        </p:nvSpPr>
        <p:spPr/>
        <p:txBody>
          <a:bodyPr/>
          <a:lstStyle/>
          <a:p>
            <a:pPr marL="0" indent="0">
              <a:buNone/>
            </a:pPr>
            <a:endParaRPr lang="tr-TR" dirty="0" smtClean="0"/>
          </a:p>
          <a:p>
            <a:pPr marL="0" indent="0">
              <a:buNone/>
            </a:pPr>
            <a:endParaRPr lang="tr-TR" dirty="0" smtClean="0"/>
          </a:p>
          <a:p>
            <a:endParaRPr lang="tr-TR" dirty="0" smtClean="0"/>
          </a:p>
          <a:p>
            <a:endParaRPr lang="tr-TR" dirty="0"/>
          </a:p>
        </p:txBody>
      </p:sp>
      <p:pic>
        <p:nvPicPr>
          <p:cNvPr id="5" name="Picture 4"/>
          <p:cNvPicPr>
            <a:picLocks noChangeAspect="1"/>
          </p:cNvPicPr>
          <p:nvPr/>
        </p:nvPicPr>
        <p:blipFill>
          <a:blip r:embed="rId4"/>
          <a:stretch>
            <a:fillRect/>
          </a:stretch>
        </p:blipFill>
        <p:spPr>
          <a:xfrm>
            <a:off x="509126" y="1690688"/>
            <a:ext cx="5734850" cy="4782218"/>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1690688"/>
            <a:ext cx="5852172" cy="4389129"/>
          </a:xfrm>
          <a:prstGeom prst="rect">
            <a:avLst/>
          </a:prstGeom>
        </p:spPr>
      </p:pic>
      <p:sp>
        <p:nvSpPr>
          <p:cNvPr id="6" name="Rectangle 5"/>
          <p:cNvSpPr/>
          <p:nvPr/>
        </p:nvSpPr>
        <p:spPr>
          <a:xfrm>
            <a:off x="6660217" y="6134736"/>
            <a:ext cx="4871714" cy="676339"/>
          </a:xfrm>
          <a:prstGeom prst="rect">
            <a:avLst/>
          </a:prstGeom>
        </p:spPr>
        <p:txBody>
          <a:bodyPr wrap="square">
            <a:spAutoFit/>
          </a:bodyPr>
          <a:lstStyle/>
          <a:p>
            <a:pPr indent="127000" algn="just">
              <a:lnSpc>
                <a:spcPct val="115000"/>
              </a:lnSpc>
              <a:spcAft>
                <a:spcPts val="0"/>
              </a:spcAft>
            </a:pPr>
            <a:r>
              <a:rPr lang="tr-TR" sz="1100" dirty="0">
                <a:latin typeface="Georgia" panose="02040502050405020303" pitchFamily="18" charset="0"/>
                <a:ea typeface="Georgia" panose="02040502050405020303" pitchFamily="18" charset="0"/>
                <a:cs typeface="Georgia" panose="02040502050405020303" pitchFamily="18" charset="0"/>
              </a:rPr>
              <a:t>[1] M. Gavish and D. L. Donoho, "The Optimal Hard Threshold for Singular Values is  4/sqrt(3)," in IEEE Transactions on Information Theory, vol. 60, no. 8, pp. 5040-5053, Aug. 2014, doi: 10.1109/TIT.2014.2323359.</a:t>
            </a:r>
            <a:endParaRPr lang="tr-TR" sz="16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214172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latin typeface="Ebrima" panose="02000000000000000000" pitchFamily="2" charset="0"/>
                <a:ea typeface="Ebrima" panose="02000000000000000000" pitchFamily="2" charset="0"/>
                <a:cs typeface="Ebrima" panose="02000000000000000000" pitchFamily="2" charset="0"/>
              </a:rPr>
              <a:t>Can It Work Real Time?</a:t>
            </a:r>
            <a:endParaRPr lang="en-US" dirty="0">
              <a:latin typeface="Ebrima" panose="02000000000000000000" pitchFamily="2" charset="0"/>
              <a:ea typeface="Ebrima" panose="02000000000000000000" pitchFamily="2" charset="0"/>
              <a:cs typeface="Ebrima" panose="02000000000000000000" pitchFamily="2" charset="0"/>
            </a:endParaRPr>
          </a:p>
        </p:txBody>
      </p:sp>
      <p:pic>
        <p:nvPicPr>
          <p:cNvPr id="7" name="Content Placeholder 6"/>
          <p:cNvPicPr>
            <a:picLocks noGrp="1" noChangeAspect="1"/>
          </p:cNvPicPr>
          <p:nvPr>
            <p:ph idx="1"/>
          </p:nvPr>
        </p:nvPicPr>
        <p:blipFill>
          <a:blip r:embed="rId4"/>
          <a:stretch>
            <a:fillRect/>
          </a:stretch>
        </p:blipFill>
        <p:spPr>
          <a:xfrm>
            <a:off x="548310" y="1952519"/>
            <a:ext cx="5246292" cy="3512111"/>
          </a:xfrm>
          <a:prstGeom prst="rect">
            <a:avLst/>
          </a:prstGeom>
        </p:spPr>
      </p:pic>
      <p:pic>
        <p:nvPicPr>
          <p:cNvPr id="9" name="Picture 8"/>
          <p:cNvPicPr>
            <a:picLocks noChangeAspect="1"/>
          </p:cNvPicPr>
          <p:nvPr/>
        </p:nvPicPr>
        <p:blipFill>
          <a:blip r:embed="rId5"/>
          <a:stretch>
            <a:fillRect/>
          </a:stretch>
        </p:blipFill>
        <p:spPr>
          <a:xfrm>
            <a:off x="5976259" y="1952519"/>
            <a:ext cx="5270053" cy="3512111"/>
          </a:xfrm>
          <a:prstGeom prst="rect">
            <a:avLst/>
          </a:prstGeom>
        </p:spPr>
      </p:pic>
      <p:sp>
        <p:nvSpPr>
          <p:cNvPr id="11" name="Content Placeholder 2"/>
          <p:cNvSpPr txBox="1">
            <a:spLocks/>
          </p:cNvSpPr>
          <p:nvPr/>
        </p:nvSpPr>
        <p:spPr>
          <a:xfrm>
            <a:off x="4057994" y="5726461"/>
            <a:ext cx="3836530" cy="7293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dirty="0" smtClean="0"/>
              <a:t>cv2.CascadeClassifier</a:t>
            </a:r>
            <a:r>
              <a:rPr lang="tr-TR" dirty="0" smtClean="0"/>
              <a:t>()</a:t>
            </a:r>
            <a:endParaRPr lang="en-US" dirty="0"/>
          </a:p>
        </p:txBody>
      </p:sp>
    </p:spTree>
    <p:extLst>
      <p:ext uri="{BB962C8B-B14F-4D97-AF65-F5344CB8AC3E}">
        <p14:creationId xmlns:p14="http://schemas.microsoft.com/office/powerpoint/2010/main" val="174454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latin typeface="Ebrima" panose="02000000000000000000" pitchFamily="2" charset="0"/>
                <a:ea typeface="Ebrima" panose="02000000000000000000" pitchFamily="2" charset="0"/>
                <a:cs typeface="Ebrima" panose="02000000000000000000" pitchFamily="2" charset="0"/>
              </a:rPr>
              <a:t>Can It Work Real Time?</a:t>
            </a:r>
            <a:endParaRPr lang="en-US" dirty="0">
              <a:latin typeface="Ebrima" panose="02000000000000000000" pitchFamily="2" charset="0"/>
              <a:ea typeface="Ebrima" panose="02000000000000000000" pitchFamily="2" charset="0"/>
              <a:cs typeface="Ebrima" panose="02000000000000000000" pitchFamily="2" charset="0"/>
            </a:endParaRPr>
          </a:p>
        </p:txBody>
      </p:sp>
      <p:pic>
        <p:nvPicPr>
          <p:cNvPr id="3" name="Picture 2"/>
          <p:cNvPicPr>
            <a:picLocks noChangeAspect="1"/>
          </p:cNvPicPr>
          <p:nvPr/>
        </p:nvPicPr>
        <p:blipFill>
          <a:blip r:embed="rId4"/>
          <a:stretch>
            <a:fillRect/>
          </a:stretch>
        </p:blipFill>
        <p:spPr>
          <a:xfrm>
            <a:off x="7697205" y="1649191"/>
            <a:ext cx="4153480" cy="3572374"/>
          </a:xfrm>
          <a:prstGeom prst="rect">
            <a:avLst/>
          </a:prstGeom>
        </p:spPr>
      </p:pic>
      <p:pic>
        <p:nvPicPr>
          <p:cNvPr id="7" name="Picture 6"/>
          <p:cNvPicPr>
            <a:picLocks noChangeAspect="1"/>
          </p:cNvPicPr>
          <p:nvPr/>
        </p:nvPicPr>
        <p:blipFill>
          <a:blip r:embed="rId5"/>
          <a:stretch>
            <a:fillRect/>
          </a:stretch>
        </p:blipFill>
        <p:spPr>
          <a:xfrm>
            <a:off x="5086991" y="1649191"/>
            <a:ext cx="2610214" cy="3181794"/>
          </a:xfrm>
          <a:prstGeom prst="rect">
            <a:avLst/>
          </a:prstGeom>
        </p:spPr>
      </p:pic>
      <p:pic>
        <p:nvPicPr>
          <p:cNvPr id="4" name="Picture 3"/>
          <p:cNvPicPr>
            <a:picLocks noChangeAspect="1"/>
          </p:cNvPicPr>
          <p:nvPr/>
        </p:nvPicPr>
        <p:blipFill>
          <a:blip r:embed="rId6"/>
          <a:stretch>
            <a:fillRect/>
          </a:stretch>
        </p:blipFill>
        <p:spPr>
          <a:xfrm>
            <a:off x="514320" y="1687466"/>
            <a:ext cx="4644574" cy="3922828"/>
          </a:xfrm>
          <a:prstGeom prst="rect">
            <a:avLst/>
          </a:prstGeom>
        </p:spPr>
      </p:pic>
      <p:pic>
        <p:nvPicPr>
          <p:cNvPr id="8" name="Picture 7"/>
          <p:cNvPicPr>
            <a:picLocks noChangeAspect="1"/>
          </p:cNvPicPr>
          <p:nvPr/>
        </p:nvPicPr>
        <p:blipFill>
          <a:blip r:embed="rId7"/>
          <a:stretch>
            <a:fillRect/>
          </a:stretch>
        </p:blipFill>
        <p:spPr>
          <a:xfrm>
            <a:off x="2282614" y="3319519"/>
            <a:ext cx="2739656" cy="3181794"/>
          </a:xfrm>
          <a:prstGeom prst="rect">
            <a:avLst/>
          </a:prstGeom>
        </p:spPr>
      </p:pic>
      <p:pic>
        <p:nvPicPr>
          <p:cNvPr id="9" name="Picture 8"/>
          <p:cNvPicPr>
            <a:picLocks noChangeAspect="1"/>
          </p:cNvPicPr>
          <p:nvPr/>
        </p:nvPicPr>
        <p:blipFill>
          <a:blip r:embed="rId8"/>
          <a:stretch>
            <a:fillRect/>
          </a:stretch>
        </p:blipFill>
        <p:spPr>
          <a:xfrm>
            <a:off x="6464090" y="2478902"/>
            <a:ext cx="3061412" cy="3279460"/>
          </a:xfrm>
          <a:prstGeom prst="rect">
            <a:avLst/>
          </a:prstGeom>
        </p:spPr>
      </p:pic>
    </p:spTree>
    <p:extLst>
      <p:ext uri="{BB962C8B-B14F-4D97-AF65-F5344CB8AC3E}">
        <p14:creationId xmlns:p14="http://schemas.microsoft.com/office/powerpoint/2010/main" val="2722244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latin typeface="Ebrima" panose="02000000000000000000" pitchFamily="2" charset="0"/>
                <a:ea typeface="Ebrima" panose="02000000000000000000" pitchFamily="2" charset="0"/>
                <a:cs typeface="Ebrima" panose="02000000000000000000" pitchFamily="2" charset="0"/>
              </a:rPr>
              <a:t>How to decide?</a:t>
            </a:r>
            <a:endParaRPr lang="en-US" dirty="0">
              <a:latin typeface="Ebrima" panose="02000000000000000000" pitchFamily="2" charset="0"/>
              <a:ea typeface="Ebrima" panose="02000000000000000000" pitchFamily="2" charset="0"/>
              <a:cs typeface="Ebrima" panose="02000000000000000000" pitchFamily="2" charset="0"/>
            </a:endParaRP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838200" y="1825625"/>
                <a:ext cx="10515600" cy="4771118"/>
              </a:xfrm>
            </p:spPr>
            <p:txBody>
              <a:bodyPr>
                <a:normAutofit/>
              </a:bodyPr>
              <a:lstStyle/>
              <a:p>
                <a:pPr marL="514350" indent="-514350">
                  <a:buFont typeface="+mj-lt"/>
                  <a:buAutoNum type="arabicPeriod"/>
                </a:pPr>
                <a:r>
                  <a:rPr lang="tr-TR" dirty="0" smtClean="0"/>
                  <a:t>Take the photo and make the prediction to obtain 7x1 vector. </a:t>
                </a:r>
                <a14:m>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𝑃</m:t>
                        </m:r>
                      </m:e>
                      <m:sub>
                        <m:r>
                          <a:rPr lang="tr-TR" b="0" i="1" smtClean="0">
                            <a:latin typeface="Cambria Math" panose="02040503050406030204" pitchFamily="18" charset="0"/>
                          </a:rPr>
                          <m:t>7</m:t>
                        </m:r>
                        <m:r>
                          <a:rPr lang="tr-TR" b="0" i="1" smtClean="0">
                            <a:latin typeface="Cambria Math" panose="02040503050406030204" pitchFamily="18" charset="0"/>
                          </a:rPr>
                          <m:t>𝑥</m:t>
                        </m:r>
                        <m:r>
                          <a:rPr lang="tr-TR" b="0" i="1" smtClean="0">
                            <a:latin typeface="Cambria Math" panose="02040503050406030204" pitchFamily="18" charset="0"/>
                          </a:rPr>
                          <m:t>1</m:t>
                        </m:r>
                      </m:sub>
                    </m:sSub>
                  </m:oMath>
                </a14:m>
                <a:endParaRPr lang="tr-TR" dirty="0" smtClean="0"/>
              </a:p>
              <a:p>
                <a:pPr marL="514350" indent="-514350">
                  <a:buFont typeface="+mj-lt"/>
                  <a:buAutoNum type="arabicPeriod"/>
                </a:pPr>
                <a:r>
                  <a:rPr lang="tr-TR" dirty="0" smtClean="0"/>
                  <a:t>Sort the vector in a decreasing order.</a:t>
                </a:r>
              </a:p>
              <a:p>
                <a:pPr marL="514350" indent="-514350">
                  <a:buFont typeface="+mj-lt"/>
                  <a:buAutoNum type="arabicPeriod"/>
                </a:pPr>
                <a:r>
                  <a:rPr lang="tr-TR" dirty="0" smtClean="0"/>
                  <a:t>Check if </a:t>
                </a:r>
                <a14:m>
                  <m:oMath xmlns:m="http://schemas.openxmlformats.org/officeDocument/2006/math">
                    <m:r>
                      <a:rPr lang="tr-TR" b="0" i="1" smtClean="0">
                        <a:latin typeface="Cambria Math" panose="02040503050406030204" pitchFamily="18" charset="0"/>
                      </a:rPr>
                      <m:t>𝑃</m:t>
                    </m:r>
                    <m:d>
                      <m:dPr>
                        <m:ctrlPr>
                          <a:rPr lang="tr-TR" b="0" i="1" smtClean="0">
                            <a:latin typeface="Cambria Math" panose="02040503050406030204" pitchFamily="18" charset="0"/>
                          </a:rPr>
                        </m:ctrlPr>
                      </m:dPr>
                      <m:e>
                        <m:r>
                          <a:rPr lang="tr-TR" b="0" i="1" smtClean="0">
                            <a:latin typeface="Cambria Math" panose="02040503050406030204" pitchFamily="18" charset="0"/>
                          </a:rPr>
                          <m:t>0</m:t>
                        </m:r>
                      </m:e>
                    </m:d>
                    <m:r>
                      <a:rPr lang="tr-TR" b="0" i="1" smtClean="0">
                        <a:latin typeface="Cambria Math" panose="02040503050406030204" pitchFamily="18" charset="0"/>
                      </a:rPr>
                      <m:t>&gt;2∗</m:t>
                    </m:r>
                    <m:r>
                      <a:rPr lang="tr-TR" b="0" i="1" smtClean="0">
                        <a:latin typeface="Cambria Math" panose="02040503050406030204" pitchFamily="18" charset="0"/>
                      </a:rPr>
                      <m:t>𝑃</m:t>
                    </m:r>
                    <m:d>
                      <m:dPr>
                        <m:ctrlPr>
                          <a:rPr lang="tr-TR" b="0" i="1" smtClean="0">
                            <a:latin typeface="Cambria Math" panose="02040503050406030204" pitchFamily="18" charset="0"/>
                          </a:rPr>
                        </m:ctrlPr>
                      </m:dPr>
                      <m:e>
                        <m:r>
                          <a:rPr lang="tr-TR" b="0" i="1" smtClean="0">
                            <a:latin typeface="Cambria Math" panose="02040503050406030204" pitchFamily="18" charset="0"/>
                          </a:rPr>
                          <m:t>1</m:t>
                        </m:r>
                      </m:e>
                    </m:d>
                  </m:oMath>
                </a14:m>
                <a:endParaRPr lang="tr-TR" b="0" dirty="0" smtClean="0"/>
              </a:p>
              <a:p>
                <a:pPr marL="514350" indent="-514350">
                  <a:buFont typeface="+mj-lt"/>
                  <a:buAutoNum type="alphaLcPeriod"/>
                </a:pPr>
                <a:r>
                  <a:rPr lang="tr-TR" dirty="0" smtClean="0"/>
                  <a:t>If </a:t>
                </a:r>
                <a14:m>
                  <m:oMath xmlns:m="http://schemas.openxmlformats.org/officeDocument/2006/math">
                    <m:r>
                      <a:rPr lang="tr-TR" i="1">
                        <a:latin typeface="Cambria Math" panose="02040503050406030204" pitchFamily="18" charset="0"/>
                      </a:rPr>
                      <m:t>𝑃</m:t>
                    </m:r>
                    <m:d>
                      <m:dPr>
                        <m:ctrlPr>
                          <a:rPr lang="tr-TR" i="1">
                            <a:latin typeface="Cambria Math" panose="02040503050406030204" pitchFamily="18" charset="0"/>
                          </a:rPr>
                        </m:ctrlPr>
                      </m:dPr>
                      <m:e>
                        <m:r>
                          <a:rPr lang="tr-TR" i="1">
                            <a:latin typeface="Cambria Math" panose="02040503050406030204" pitchFamily="18" charset="0"/>
                          </a:rPr>
                          <m:t>0</m:t>
                        </m:r>
                      </m:e>
                    </m:d>
                    <m:r>
                      <a:rPr lang="tr-TR" i="1">
                        <a:latin typeface="Cambria Math" panose="02040503050406030204" pitchFamily="18" charset="0"/>
                      </a:rPr>
                      <m:t>&gt;2∗</m:t>
                    </m:r>
                    <m:r>
                      <a:rPr lang="tr-TR" i="1">
                        <a:latin typeface="Cambria Math" panose="02040503050406030204" pitchFamily="18" charset="0"/>
                      </a:rPr>
                      <m:t>𝑃</m:t>
                    </m:r>
                    <m:d>
                      <m:dPr>
                        <m:ctrlPr>
                          <a:rPr lang="tr-TR" i="1">
                            <a:latin typeface="Cambria Math" panose="02040503050406030204" pitchFamily="18" charset="0"/>
                          </a:rPr>
                        </m:ctrlPr>
                      </m:dPr>
                      <m:e>
                        <m:r>
                          <a:rPr lang="tr-TR" i="1">
                            <a:latin typeface="Cambria Math" panose="02040503050406030204" pitchFamily="18" charset="0"/>
                          </a:rPr>
                          <m:t>1</m:t>
                        </m:r>
                      </m:e>
                    </m:d>
                  </m:oMath>
                </a14:m>
                <a:r>
                  <a:rPr lang="tr-TR" b="0" dirty="0" smtClean="0"/>
                  <a:t> </a:t>
                </a:r>
                <a:r>
                  <a:rPr lang="tr-TR" dirty="0"/>
                  <a:t>AI is sure that it gives the right decision.</a:t>
                </a:r>
              </a:p>
              <a:p>
                <a:pPr marL="514350" indent="-514350">
                  <a:buFont typeface="+mj-lt"/>
                  <a:buAutoNum type="alphaLcPeriod"/>
                </a:pPr>
                <a:r>
                  <a:rPr lang="tr-TR" dirty="0"/>
                  <a:t>If </a:t>
                </a:r>
                <a14:m>
                  <m:oMath xmlns:m="http://schemas.openxmlformats.org/officeDocument/2006/math">
                    <m:r>
                      <a:rPr lang="tr-TR" i="1">
                        <a:latin typeface="Cambria Math" panose="02040503050406030204" pitchFamily="18" charset="0"/>
                      </a:rPr>
                      <m:t>𝑃</m:t>
                    </m:r>
                    <m:d>
                      <m:dPr>
                        <m:ctrlPr>
                          <a:rPr lang="tr-TR" i="1">
                            <a:latin typeface="Cambria Math" panose="02040503050406030204" pitchFamily="18" charset="0"/>
                          </a:rPr>
                        </m:ctrlPr>
                      </m:dPr>
                      <m:e>
                        <m:r>
                          <a:rPr lang="tr-TR" i="1">
                            <a:latin typeface="Cambria Math" panose="02040503050406030204" pitchFamily="18" charset="0"/>
                          </a:rPr>
                          <m:t>0</m:t>
                        </m:r>
                      </m:e>
                    </m:d>
                    <m:r>
                      <a:rPr lang="tr-TR" i="1">
                        <a:latin typeface="Cambria Math" panose="02040503050406030204" pitchFamily="18" charset="0"/>
                      </a:rPr>
                      <m:t>≤2∗</m:t>
                    </m:r>
                    <m:r>
                      <a:rPr lang="tr-TR" i="1">
                        <a:latin typeface="Cambria Math" panose="02040503050406030204" pitchFamily="18" charset="0"/>
                      </a:rPr>
                      <m:t>𝑃</m:t>
                    </m:r>
                    <m:d>
                      <m:dPr>
                        <m:ctrlPr>
                          <a:rPr lang="tr-TR" i="1">
                            <a:latin typeface="Cambria Math" panose="02040503050406030204" pitchFamily="18" charset="0"/>
                          </a:rPr>
                        </m:ctrlPr>
                      </m:dPr>
                      <m:e>
                        <m:r>
                          <a:rPr lang="tr-TR" i="1">
                            <a:latin typeface="Cambria Math" panose="02040503050406030204" pitchFamily="18" charset="0"/>
                          </a:rPr>
                          <m:t>1</m:t>
                        </m:r>
                      </m:e>
                    </m:d>
                  </m:oMath>
                </a14:m>
                <a:r>
                  <a:rPr lang="tr-TR" dirty="0"/>
                  <a:t>, AI is not sure. It may be something new? The answer is unknown. Capture the input and store it in a folder called «TBD</a:t>
                </a:r>
                <a:r>
                  <a:rPr lang="tr-TR" dirty="0" smtClean="0"/>
                  <a:t>».</a:t>
                </a:r>
                <a:endParaRPr lang="tr-TR" dirty="0"/>
              </a:p>
              <a:p>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838200" y="1825625"/>
                <a:ext cx="10515600" cy="4771118"/>
              </a:xfrm>
              <a:blipFill>
                <a:blip r:embed="rId4"/>
                <a:stretch>
                  <a:fillRect l="-1217" t="-2171" r="-638"/>
                </a:stretch>
              </a:blipFill>
            </p:spPr>
            <p:txBody>
              <a:bodyPr/>
              <a:lstStyle/>
              <a:p>
                <a:r>
                  <a:rPr lang="en-US">
                    <a:noFill/>
                  </a:rPr>
                  <a:t> </a:t>
                </a:r>
              </a:p>
            </p:txBody>
          </p:sp>
        </mc:Fallback>
      </mc:AlternateContent>
    </p:spTree>
    <p:extLst>
      <p:ext uri="{BB962C8B-B14F-4D97-AF65-F5344CB8AC3E}">
        <p14:creationId xmlns:p14="http://schemas.microsoft.com/office/powerpoint/2010/main" val="239910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latin typeface="Ebrima" panose="02000000000000000000" pitchFamily="2" charset="0"/>
                <a:ea typeface="Ebrima" panose="02000000000000000000" pitchFamily="2" charset="0"/>
                <a:cs typeface="Ebrima" panose="02000000000000000000" pitchFamily="2" charset="0"/>
              </a:rPr>
              <a:t>What happens to the «TBD» folder?</a:t>
            </a:r>
            <a:endParaRPr lang="en-US" dirty="0">
              <a:latin typeface="Ebrima" panose="02000000000000000000" pitchFamily="2" charset="0"/>
              <a:ea typeface="Ebrima" panose="02000000000000000000" pitchFamily="2" charset="0"/>
              <a:cs typeface="Ebrima" panose="02000000000000000000" pitchFamily="2" charset="0"/>
            </a:endParaRPr>
          </a:p>
        </p:txBody>
      </p:sp>
      <mc:AlternateContent xmlns:mc="http://schemas.openxmlformats.org/markup-compatibility/2006">
        <mc:Choice xmlns:a14="http://schemas.microsoft.com/office/drawing/2010/main" Requires="a14">
          <p:sp>
            <p:nvSpPr>
              <p:cNvPr id="4" name="Content Placeholder 3"/>
              <p:cNvSpPr>
                <a:spLocks noGrp="1"/>
              </p:cNvSpPr>
              <p:nvPr>
                <p:ph idx="1"/>
              </p:nvPr>
            </p:nvSpPr>
            <p:spPr>
              <a:xfrm>
                <a:off x="838200" y="1825625"/>
                <a:ext cx="10515600" cy="3780518"/>
              </a:xfrm>
            </p:spPr>
            <p:txBody>
              <a:bodyPr>
                <a:normAutofit fontScale="92500" lnSpcReduction="20000"/>
              </a:bodyPr>
              <a:lstStyle/>
              <a:p>
                <a:pPr marL="514350" indent="-514350">
                  <a:buFont typeface="+mj-lt"/>
                  <a:buAutoNum type="arabicPeriod"/>
                </a:pPr>
                <a:r>
                  <a:rPr lang="tr-TR" dirty="0" smtClean="0"/>
                  <a:t>If images in the folder «TBD» is larger than 10, ask a question to the user: «What is that emotion?»</a:t>
                </a:r>
              </a:p>
              <a:p>
                <a:pPr marL="514350" indent="-514350">
                  <a:buFont typeface="+mj-lt"/>
                  <a:buAutoNum type="arabicPeriod"/>
                </a:pPr>
                <a:r>
                  <a:rPr lang="tr-TR" dirty="0"/>
                  <a:t>Get the </a:t>
                </a:r>
                <a:r>
                  <a:rPr lang="tr-TR" dirty="0">
                    <a:solidFill>
                      <a:srgbClr val="FF0000"/>
                    </a:solidFill>
                  </a:rPr>
                  <a:t>keyword</a:t>
                </a:r>
                <a:r>
                  <a:rPr lang="tr-TR" dirty="0"/>
                  <a:t>, search at google for images and download </a:t>
                </a:r>
                <a:r>
                  <a:rPr lang="tr-TR" dirty="0" smtClean="0"/>
                  <a:t>50 images </a:t>
                </a:r>
                <a:r>
                  <a:rPr lang="tr-TR" dirty="0"/>
                  <a:t>into the «TBD</a:t>
                </a:r>
                <a:r>
                  <a:rPr lang="tr-TR" dirty="0" smtClean="0"/>
                  <a:t>».</a:t>
                </a:r>
              </a:p>
              <a:p>
                <a:pPr marL="514350" indent="-514350">
                  <a:buFont typeface="+mj-lt"/>
                  <a:buAutoNum type="arabicPeriod"/>
                </a:pPr>
                <a:r>
                  <a:rPr lang="tr-TR" dirty="0" smtClean="0"/>
                  <a:t>Copy the AI architecture and change last layer make the output prediction vector </a:t>
                </a:r>
                <a14:m>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𝑃</m:t>
                        </m:r>
                      </m:e>
                      <m:sub>
                        <m:r>
                          <a:rPr lang="tr-TR" b="0" i="1" smtClean="0">
                            <a:latin typeface="Cambria Math" panose="02040503050406030204" pitchFamily="18" charset="0"/>
                          </a:rPr>
                          <m:t>8</m:t>
                        </m:r>
                        <m:r>
                          <a:rPr lang="tr-TR" i="1">
                            <a:latin typeface="Cambria Math" panose="02040503050406030204" pitchFamily="18" charset="0"/>
                          </a:rPr>
                          <m:t>𝑥</m:t>
                        </m:r>
                        <m:r>
                          <a:rPr lang="tr-TR" i="1">
                            <a:latin typeface="Cambria Math" panose="02040503050406030204" pitchFamily="18" charset="0"/>
                          </a:rPr>
                          <m:t>1</m:t>
                        </m:r>
                      </m:sub>
                    </m:sSub>
                  </m:oMath>
                </a14:m>
                <a:r>
                  <a:rPr lang="tr-TR" dirty="0" smtClean="0"/>
                  <a:t>. Randomly select 50 images from each emotion and retrain the new architecture.</a:t>
                </a:r>
              </a:p>
              <a:p>
                <a:pPr marL="514350" indent="-514350">
                  <a:buFont typeface="+mj-lt"/>
                  <a:buAutoNum type="arabicPeriod"/>
                </a:pPr>
                <a:r>
                  <a:rPr lang="tr-TR" dirty="0" smtClean="0"/>
                  <a:t>Check </a:t>
                </a:r>
                <a:r>
                  <a:rPr lang="tr-TR" dirty="0" smtClean="0"/>
                  <a:t>the accuracy.</a:t>
                </a:r>
              </a:p>
              <a:p>
                <a:pPr marL="514350" indent="-514350">
                  <a:buFont typeface="+mj-lt"/>
                  <a:buAutoNum type="alphaLcPeriod"/>
                </a:pPr>
                <a:r>
                  <a:rPr lang="tr-TR" dirty="0" smtClean="0"/>
                  <a:t>If acceptable, then the </a:t>
                </a:r>
                <a:r>
                  <a:rPr lang="tr-TR" dirty="0" smtClean="0">
                    <a:solidFill>
                      <a:srgbClr val="FF0000"/>
                    </a:solidFill>
                  </a:rPr>
                  <a:t>new</a:t>
                </a:r>
                <a:r>
                  <a:rPr lang="tr-TR" dirty="0" smtClean="0"/>
                  <a:t> is learned.</a:t>
                </a:r>
              </a:p>
              <a:p>
                <a:pPr marL="514350" indent="-514350">
                  <a:buFont typeface="+mj-lt"/>
                  <a:buAutoNum type="alphaLcPeriod"/>
                </a:pPr>
                <a:r>
                  <a:rPr lang="tr-TR" dirty="0" smtClean="0"/>
                  <a:t>If not acceptable, discard the last changes.</a:t>
                </a:r>
              </a:p>
            </p:txBody>
          </p:sp>
        </mc:Choice>
        <mc:Fallback>
          <p:sp>
            <p:nvSpPr>
              <p:cNvPr id="4" name="Content Placeholder 3"/>
              <p:cNvSpPr>
                <a:spLocks noGrp="1" noRot="1" noChangeAspect="1" noMove="1" noResize="1" noEditPoints="1" noAdjustHandles="1" noChangeArrowheads="1" noChangeShapeType="1" noTextEdit="1"/>
              </p:cNvSpPr>
              <p:nvPr>
                <p:ph idx="1"/>
              </p:nvPr>
            </p:nvSpPr>
            <p:spPr>
              <a:xfrm>
                <a:off x="838200" y="1825625"/>
                <a:ext cx="10515600" cy="3780518"/>
              </a:xfrm>
              <a:blipFill>
                <a:blip r:embed="rId4"/>
                <a:stretch>
                  <a:fillRect l="-1101" t="-4187" r="-1507"/>
                </a:stretch>
              </a:blipFill>
            </p:spPr>
            <p:txBody>
              <a:bodyPr/>
              <a:lstStyle/>
              <a:p>
                <a:r>
                  <a:rPr lang="en-US">
                    <a:noFill/>
                  </a:rPr>
                  <a:t> </a:t>
                </a:r>
              </a:p>
            </p:txBody>
          </p:sp>
        </mc:Fallback>
      </mc:AlternateContent>
    </p:spTree>
    <p:extLst>
      <p:ext uri="{BB962C8B-B14F-4D97-AF65-F5344CB8AC3E}">
        <p14:creationId xmlns:p14="http://schemas.microsoft.com/office/powerpoint/2010/main" val="2299109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5000"/>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latin typeface="Ebrima" panose="02000000000000000000" pitchFamily="2" charset="0"/>
                <a:ea typeface="Ebrima" panose="02000000000000000000" pitchFamily="2" charset="0"/>
                <a:cs typeface="Ebrima" panose="02000000000000000000" pitchFamily="2" charset="0"/>
              </a:rPr>
              <a:t>The Flow Chart</a:t>
            </a:r>
            <a:endParaRPr lang="en-US" dirty="0">
              <a:latin typeface="Ebrima" panose="02000000000000000000" pitchFamily="2" charset="0"/>
              <a:ea typeface="Ebrima" panose="02000000000000000000" pitchFamily="2" charset="0"/>
              <a:cs typeface="Ebrima" panose="02000000000000000000" pitchFamily="2" charset="0"/>
            </a:endParaRPr>
          </a:p>
        </p:txBody>
      </p:sp>
      <p:pic>
        <p:nvPicPr>
          <p:cNvPr id="5" name="Content Placeholder 4"/>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0" y="1715325"/>
            <a:ext cx="12192000" cy="4761200"/>
          </a:xfrm>
          <a:prstGeom prst="rect">
            <a:avLst/>
          </a:prstGeom>
        </p:spPr>
      </p:pic>
    </p:spTree>
    <p:extLst>
      <p:ext uri="{BB962C8B-B14F-4D97-AF65-F5344CB8AC3E}">
        <p14:creationId xmlns:p14="http://schemas.microsoft.com/office/powerpoint/2010/main" val="4637928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0"/>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latin typeface="Ebrima" panose="02000000000000000000" pitchFamily="2" charset="0"/>
                <a:ea typeface="Ebrima" panose="02000000000000000000" pitchFamily="2" charset="0"/>
                <a:cs typeface="Ebrima" panose="02000000000000000000" pitchFamily="2" charset="0"/>
              </a:rPr>
              <a:t>Conclusion</a:t>
            </a:r>
            <a:endParaRPr lang="en-US" dirty="0">
              <a:latin typeface="Ebrima" panose="02000000000000000000" pitchFamily="2" charset="0"/>
              <a:ea typeface="Ebrima" panose="02000000000000000000" pitchFamily="2" charset="0"/>
              <a:cs typeface="Ebrima" panose="02000000000000000000" pitchFamily="2" charset="0"/>
            </a:endParaRPr>
          </a:p>
        </p:txBody>
      </p:sp>
      <p:pic>
        <p:nvPicPr>
          <p:cNvPr id="5" name="Picture 4"/>
          <p:cNvPicPr>
            <a:picLocks noChangeAspect="1"/>
          </p:cNvPicPr>
          <p:nvPr/>
        </p:nvPicPr>
        <p:blipFill>
          <a:blip r:embed="rId4"/>
          <a:stretch>
            <a:fillRect/>
          </a:stretch>
        </p:blipFill>
        <p:spPr>
          <a:xfrm>
            <a:off x="9085661" y="1690688"/>
            <a:ext cx="2779838" cy="4318196"/>
          </a:xfrm>
          <a:prstGeom prst="rect">
            <a:avLst/>
          </a:prstGeom>
        </p:spPr>
      </p:pic>
      <p:sp>
        <p:nvSpPr>
          <p:cNvPr id="10" name="Content Placeholder 9"/>
          <p:cNvSpPr>
            <a:spLocks noGrp="1"/>
          </p:cNvSpPr>
          <p:nvPr>
            <p:ph idx="1"/>
          </p:nvPr>
        </p:nvSpPr>
        <p:spPr>
          <a:xfrm>
            <a:off x="838200" y="1825625"/>
            <a:ext cx="5334000" cy="4351338"/>
          </a:xfrm>
        </p:spPr>
        <p:txBody>
          <a:bodyPr/>
          <a:lstStyle/>
          <a:p>
            <a:r>
              <a:rPr lang="tr-TR" dirty="0" smtClean="0"/>
              <a:t>Low accuracy was a big problem.</a:t>
            </a:r>
          </a:p>
          <a:p>
            <a:endParaRPr lang="tr-TR" dirty="0"/>
          </a:p>
          <a:p>
            <a:r>
              <a:rPr lang="tr-TR" dirty="0" smtClean="0"/>
              <a:t>Do it learn new right now?</a:t>
            </a:r>
          </a:p>
          <a:p>
            <a:endParaRPr lang="tr-TR" dirty="0" smtClean="0"/>
          </a:p>
          <a:p>
            <a:endParaRPr lang="tr-TR" dirty="0" smtClean="0"/>
          </a:p>
          <a:p>
            <a:endParaRPr lang="en-US" dirty="0"/>
          </a:p>
        </p:txBody>
      </p:sp>
      <p:pic>
        <p:nvPicPr>
          <p:cNvPr id="11" name="Content Placeholder 5"/>
          <p:cNvPicPr>
            <a:picLocks noChangeAspect="1"/>
          </p:cNvPicPr>
          <p:nvPr/>
        </p:nvPicPr>
        <p:blipFill>
          <a:blip r:embed="rId5"/>
          <a:stretch>
            <a:fillRect/>
          </a:stretch>
        </p:blipFill>
        <p:spPr>
          <a:xfrm>
            <a:off x="6913658" y="2214027"/>
            <a:ext cx="2172003" cy="3096057"/>
          </a:xfrm>
          <a:prstGeom prst="rect">
            <a:avLst/>
          </a:prstGeom>
        </p:spPr>
      </p:pic>
    </p:spTree>
    <p:extLst>
      <p:ext uri="{BB962C8B-B14F-4D97-AF65-F5344CB8AC3E}">
        <p14:creationId xmlns:p14="http://schemas.microsoft.com/office/powerpoint/2010/main" val="2890130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1557</TotalTime>
  <Words>791</Words>
  <Application>Microsoft Office PowerPoint</Application>
  <PresentationFormat>Widescreen</PresentationFormat>
  <Paragraphs>89</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Cambria Math</vt:lpstr>
      <vt:lpstr>Ebrima</vt:lpstr>
      <vt:lpstr>Georgia</vt:lpstr>
      <vt:lpstr>Office Theme</vt:lpstr>
      <vt:lpstr>CAN YOU FEEL IT?</vt:lpstr>
      <vt:lpstr>CAN YOU FEEL IT?</vt:lpstr>
      <vt:lpstr>How to detect emotion?</vt:lpstr>
      <vt:lpstr>Feature vector - 2048x1 </vt:lpstr>
      <vt:lpstr>Can It Work Real Time?</vt:lpstr>
      <vt:lpstr>Can It Work Real Time?</vt:lpstr>
      <vt:lpstr>How to decide?</vt:lpstr>
      <vt:lpstr>What happens to the «TBD» folder?</vt:lpstr>
      <vt:lpstr>The Flow Chart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CEM</dc:creator>
  <cp:lastModifiedBy>CEM</cp:lastModifiedBy>
  <cp:revision>81</cp:revision>
  <dcterms:created xsi:type="dcterms:W3CDTF">2020-11-01T18:24:16Z</dcterms:created>
  <dcterms:modified xsi:type="dcterms:W3CDTF">2021-02-13T08:04:08Z</dcterms:modified>
</cp:coreProperties>
</file>